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66" r:id="rId2"/>
    <p:sldId id="267" r:id="rId3"/>
    <p:sldId id="268" r:id="rId4"/>
  </p:sldIdLst>
  <p:sldSz cx="14760575" cy="7775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DA7"/>
    <a:srgbClr val="7F5A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0" autoAdjust="0"/>
    <p:restoredTop sz="94660"/>
  </p:normalViewPr>
  <p:slideViewPr>
    <p:cSldViewPr snapToGrid="0">
      <p:cViewPr varScale="1">
        <p:scale>
          <a:sx n="99" d="100"/>
          <a:sy n="99" d="100"/>
        </p:scale>
        <p:origin x="75" y="1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0E6E0-3B39-4D12-9144-645AAAE28C5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00063" y="1143000"/>
            <a:ext cx="5857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F8682-E046-44B6-9BDE-A7C0B5D207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53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1272531"/>
            <a:ext cx="11070431" cy="2707052"/>
          </a:xfrm>
        </p:spPr>
        <p:txBody>
          <a:bodyPr anchor="b"/>
          <a:lstStyle>
            <a:lvl1pPr algn="ctr">
              <a:defRPr sz="680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4083977"/>
            <a:ext cx="11070431" cy="1877297"/>
          </a:xfrm>
        </p:spPr>
        <p:txBody>
          <a:bodyPr/>
          <a:lstStyle>
            <a:lvl1pPr marL="0" indent="0" algn="ctr">
              <a:buNone/>
              <a:defRPr sz="2721"/>
            </a:lvl1pPr>
            <a:lvl2pPr marL="518373" indent="0" algn="ctr">
              <a:buNone/>
              <a:defRPr sz="2268"/>
            </a:lvl2pPr>
            <a:lvl3pPr marL="1036747" indent="0" algn="ctr">
              <a:buNone/>
              <a:defRPr sz="2041"/>
            </a:lvl3pPr>
            <a:lvl4pPr marL="1555120" indent="0" algn="ctr">
              <a:buNone/>
              <a:defRPr sz="1814"/>
            </a:lvl4pPr>
            <a:lvl5pPr marL="2073493" indent="0" algn="ctr">
              <a:buNone/>
              <a:defRPr sz="1814"/>
            </a:lvl5pPr>
            <a:lvl6pPr marL="2591867" indent="0" algn="ctr">
              <a:buNone/>
              <a:defRPr sz="1814"/>
            </a:lvl6pPr>
            <a:lvl7pPr marL="3110240" indent="0" algn="ctr">
              <a:buNone/>
              <a:defRPr sz="1814"/>
            </a:lvl7pPr>
            <a:lvl8pPr marL="3628614" indent="0" algn="ctr">
              <a:buNone/>
              <a:defRPr sz="1814"/>
            </a:lvl8pPr>
            <a:lvl9pPr marL="4146987" indent="0" algn="ctr">
              <a:buNone/>
              <a:defRPr sz="181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94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04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938495"/>
            <a:ext cx="12730996" cy="3234423"/>
          </a:xfrm>
        </p:spPr>
        <p:txBody>
          <a:bodyPr anchor="b"/>
          <a:lstStyle>
            <a:lvl1pPr>
              <a:defRPr sz="680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5203517"/>
            <a:ext cx="12730996" cy="1700906"/>
          </a:xfrm>
        </p:spPr>
        <p:txBody>
          <a:bodyPr/>
          <a:lstStyle>
            <a:lvl1pPr marL="0" indent="0">
              <a:buNone/>
              <a:defRPr sz="2721">
                <a:solidFill>
                  <a:schemeClr val="tx1">
                    <a:tint val="82000"/>
                  </a:schemeClr>
                </a:solidFill>
              </a:defRPr>
            </a:lvl1pPr>
            <a:lvl2pPr marL="518373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2pPr>
            <a:lvl3pPr marL="1036747" indent="0">
              <a:buNone/>
              <a:defRPr sz="2041">
                <a:solidFill>
                  <a:schemeClr val="tx1">
                    <a:tint val="82000"/>
                  </a:schemeClr>
                </a:solidFill>
              </a:defRPr>
            </a:lvl3pPr>
            <a:lvl4pPr marL="1555120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4pPr>
            <a:lvl5pPr marL="2073493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5pPr>
            <a:lvl6pPr marL="2591867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6pPr>
            <a:lvl7pPr marL="3110240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7pPr>
            <a:lvl8pPr marL="3628614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8pPr>
            <a:lvl9pPr marL="4146987" indent="0">
              <a:buNone/>
              <a:defRPr sz="18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9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2069887"/>
            <a:ext cx="6273244" cy="493353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2069887"/>
            <a:ext cx="6273244" cy="493353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18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413978"/>
            <a:ext cx="12730996" cy="150291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906097"/>
            <a:ext cx="6244415" cy="934148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373" indent="0">
              <a:buNone/>
              <a:defRPr sz="2268" b="1"/>
            </a:lvl2pPr>
            <a:lvl3pPr marL="1036747" indent="0">
              <a:buNone/>
              <a:defRPr sz="2041" b="1"/>
            </a:lvl3pPr>
            <a:lvl4pPr marL="1555120" indent="0">
              <a:buNone/>
              <a:defRPr sz="1814" b="1"/>
            </a:lvl4pPr>
            <a:lvl5pPr marL="2073493" indent="0">
              <a:buNone/>
              <a:defRPr sz="1814" b="1"/>
            </a:lvl5pPr>
            <a:lvl6pPr marL="2591867" indent="0">
              <a:buNone/>
              <a:defRPr sz="1814" b="1"/>
            </a:lvl6pPr>
            <a:lvl7pPr marL="3110240" indent="0">
              <a:buNone/>
              <a:defRPr sz="1814" b="1"/>
            </a:lvl7pPr>
            <a:lvl8pPr marL="3628614" indent="0">
              <a:buNone/>
              <a:defRPr sz="1814" b="1"/>
            </a:lvl8pPr>
            <a:lvl9pPr marL="4146987" indent="0">
              <a:buNone/>
              <a:defRPr sz="181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2840245"/>
            <a:ext cx="6244415" cy="4177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906097"/>
            <a:ext cx="6275167" cy="934148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373" indent="0">
              <a:buNone/>
              <a:defRPr sz="2268" b="1"/>
            </a:lvl2pPr>
            <a:lvl3pPr marL="1036747" indent="0">
              <a:buNone/>
              <a:defRPr sz="2041" b="1"/>
            </a:lvl3pPr>
            <a:lvl4pPr marL="1555120" indent="0">
              <a:buNone/>
              <a:defRPr sz="1814" b="1"/>
            </a:lvl4pPr>
            <a:lvl5pPr marL="2073493" indent="0">
              <a:buNone/>
              <a:defRPr sz="1814" b="1"/>
            </a:lvl5pPr>
            <a:lvl6pPr marL="2591867" indent="0">
              <a:buNone/>
              <a:defRPr sz="1814" b="1"/>
            </a:lvl6pPr>
            <a:lvl7pPr marL="3110240" indent="0">
              <a:buNone/>
              <a:defRPr sz="1814" b="1"/>
            </a:lvl7pPr>
            <a:lvl8pPr marL="3628614" indent="0">
              <a:buNone/>
              <a:defRPr sz="1814" b="1"/>
            </a:lvl8pPr>
            <a:lvl9pPr marL="4146987" indent="0">
              <a:buNone/>
              <a:defRPr sz="181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2840245"/>
            <a:ext cx="6275167" cy="4177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79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11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60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518372"/>
            <a:ext cx="4760669" cy="1814301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1119539"/>
            <a:ext cx="7472541" cy="5525698"/>
          </a:xfrm>
        </p:spPr>
        <p:txBody>
          <a:bodyPr/>
          <a:lstStyle>
            <a:lvl1pPr>
              <a:defRPr sz="3628"/>
            </a:lvl1pPr>
            <a:lvl2pPr>
              <a:defRPr sz="3175"/>
            </a:lvl2pPr>
            <a:lvl3pPr>
              <a:defRPr sz="2721"/>
            </a:lvl3pPr>
            <a:lvl4pPr>
              <a:defRPr sz="2268"/>
            </a:lvl4pPr>
            <a:lvl5pPr>
              <a:defRPr sz="2268"/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2332673"/>
            <a:ext cx="4760669" cy="4321564"/>
          </a:xfrm>
        </p:spPr>
        <p:txBody>
          <a:bodyPr/>
          <a:lstStyle>
            <a:lvl1pPr marL="0" indent="0">
              <a:buNone/>
              <a:defRPr sz="1814"/>
            </a:lvl1pPr>
            <a:lvl2pPr marL="518373" indent="0">
              <a:buNone/>
              <a:defRPr sz="1587"/>
            </a:lvl2pPr>
            <a:lvl3pPr marL="1036747" indent="0">
              <a:buNone/>
              <a:defRPr sz="1361"/>
            </a:lvl3pPr>
            <a:lvl4pPr marL="1555120" indent="0">
              <a:buNone/>
              <a:defRPr sz="1134"/>
            </a:lvl4pPr>
            <a:lvl5pPr marL="2073493" indent="0">
              <a:buNone/>
              <a:defRPr sz="1134"/>
            </a:lvl5pPr>
            <a:lvl6pPr marL="2591867" indent="0">
              <a:buNone/>
              <a:defRPr sz="1134"/>
            </a:lvl6pPr>
            <a:lvl7pPr marL="3110240" indent="0">
              <a:buNone/>
              <a:defRPr sz="1134"/>
            </a:lvl7pPr>
            <a:lvl8pPr marL="3628614" indent="0">
              <a:buNone/>
              <a:defRPr sz="1134"/>
            </a:lvl8pPr>
            <a:lvl9pPr marL="4146987" indent="0">
              <a:buNone/>
              <a:defRPr sz="113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20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518372"/>
            <a:ext cx="4760669" cy="1814301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1119539"/>
            <a:ext cx="7472541" cy="5525698"/>
          </a:xfrm>
        </p:spPr>
        <p:txBody>
          <a:bodyPr anchor="t"/>
          <a:lstStyle>
            <a:lvl1pPr marL="0" indent="0">
              <a:buNone/>
              <a:defRPr sz="3628"/>
            </a:lvl1pPr>
            <a:lvl2pPr marL="518373" indent="0">
              <a:buNone/>
              <a:defRPr sz="3175"/>
            </a:lvl2pPr>
            <a:lvl3pPr marL="1036747" indent="0">
              <a:buNone/>
              <a:defRPr sz="2721"/>
            </a:lvl3pPr>
            <a:lvl4pPr marL="1555120" indent="0">
              <a:buNone/>
              <a:defRPr sz="2268"/>
            </a:lvl4pPr>
            <a:lvl5pPr marL="2073493" indent="0">
              <a:buNone/>
              <a:defRPr sz="2268"/>
            </a:lvl5pPr>
            <a:lvl6pPr marL="2591867" indent="0">
              <a:buNone/>
              <a:defRPr sz="2268"/>
            </a:lvl6pPr>
            <a:lvl7pPr marL="3110240" indent="0">
              <a:buNone/>
              <a:defRPr sz="2268"/>
            </a:lvl7pPr>
            <a:lvl8pPr marL="3628614" indent="0">
              <a:buNone/>
              <a:defRPr sz="2268"/>
            </a:lvl8pPr>
            <a:lvl9pPr marL="4146987" indent="0">
              <a:buNone/>
              <a:defRPr sz="2268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2332673"/>
            <a:ext cx="4760669" cy="4321564"/>
          </a:xfrm>
        </p:spPr>
        <p:txBody>
          <a:bodyPr/>
          <a:lstStyle>
            <a:lvl1pPr marL="0" indent="0">
              <a:buNone/>
              <a:defRPr sz="1814"/>
            </a:lvl1pPr>
            <a:lvl2pPr marL="518373" indent="0">
              <a:buNone/>
              <a:defRPr sz="1587"/>
            </a:lvl2pPr>
            <a:lvl3pPr marL="1036747" indent="0">
              <a:buNone/>
              <a:defRPr sz="1361"/>
            </a:lvl3pPr>
            <a:lvl4pPr marL="1555120" indent="0">
              <a:buNone/>
              <a:defRPr sz="1134"/>
            </a:lvl4pPr>
            <a:lvl5pPr marL="2073493" indent="0">
              <a:buNone/>
              <a:defRPr sz="1134"/>
            </a:lvl5pPr>
            <a:lvl6pPr marL="2591867" indent="0">
              <a:buNone/>
              <a:defRPr sz="1134"/>
            </a:lvl6pPr>
            <a:lvl7pPr marL="3110240" indent="0">
              <a:buNone/>
              <a:defRPr sz="1134"/>
            </a:lvl7pPr>
            <a:lvl8pPr marL="3628614" indent="0">
              <a:buNone/>
              <a:defRPr sz="1134"/>
            </a:lvl8pPr>
            <a:lvl9pPr marL="4146987" indent="0">
              <a:buNone/>
              <a:defRPr sz="113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10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12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413978"/>
            <a:ext cx="3182749" cy="65894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413978"/>
            <a:ext cx="9363740" cy="65894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413978"/>
            <a:ext cx="12730996" cy="150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2069887"/>
            <a:ext cx="12730996" cy="493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7206807"/>
            <a:ext cx="3321129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9823E-21C7-491A-9799-3719AFA412C6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7206807"/>
            <a:ext cx="4981694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7206807"/>
            <a:ext cx="3321129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2CB96-AF4D-4DBF-B4B5-287489EFF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37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36747" rtl="0" eaLnBrk="1" latinLnBrk="0" hangingPunct="1">
        <a:lnSpc>
          <a:spcPct val="90000"/>
        </a:lnSpc>
        <a:spcBef>
          <a:spcPct val="0"/>
        </a:spcBef>
        <a:buNone/>
        <a:defRPr sz="4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187" indent="-259187" algn="l" defTabSz="1036747" rtl="0" eaLnBrk="1" latinLnBrk="0" hangingPunct="1">
        <a:lnSpc>
          <a:spcPct val="90000"/>
        </a:lnSpc>
        <a:spcBef>
          <a:spcPts val="1134"/>
        </a:spcBef>
        <a:buFont typeface="Arial" panose="020B0604020202020204" pitchFamily="34" charset="0"/>
        <a:buChar char="•"/>
        <a:defRPr sz="3175" kern="1200">
          <a:solidFill>
            <a:schemeClr val="tx1"/>
          </a:solidFill>
          <a:latin typeface="+mn-lt"/>
          <a:ea typeface="+mn-ea"/>
          <a:cs typeface="+mn-cs"/>
        </a:defRPr>
      </a:lvl1pPr>
      <a:lvl2pPr marL="77756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33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814307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33268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851053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369427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88780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406174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1pPr>
      <a:lvl2pPr marL="518373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1036747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3pPr>
      <a:lvl4pPr marL="1555120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073493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591867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110240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628614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146987" algn="l" defTabSz="1036747" rtl="0" eaLnBrk="1" latinLnBrk="0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2D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CEEAEB-C19F-888B-FCC4-9FC749289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472" y="125618"/>
            <a:ext cx="13376608" cy="752434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44ECE-CEE2-90E1-1962-4FC36D63DEF5}"/>
              </a:ext>
            </a:extLst>
          </p:cNvPr>
          <p:cNvSpPr txBox="1">
            <a:spLocks/>
          </p:cNvSpPr>
          <p:nvPr/>
        </p:nvSpPr>
        <p:spPr>
          <a:xfrm>
            <a:off x="606861" y="2189205"/>
            <a:ext cx="6773428" cy="222901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5375" b="1" dirty="0">
                <a:solidFill>
                  <a:schemeClr val="bg1"/>
                </a:solidFill>
                <a:latin typeface="Futura Now Headline" panose="020B0506030501020303" pitchFamily="34" charset="0"/>
                <a:cs typeface="ALS Sector Regular" pitchFamily="2" charset="0"/>
              </a:rPr>
              <a:t>НАИМЕНОВАНИЕ</a:t>
            </a:r>
          </a:p>
          <a:p>
            <a:pPr>
              <a:lnSpc>
                <a:spcPct val="120000"/>
              </a:lnSpc>
            </a:pPr>
            <a:r>
              <a:rPr lang="ru-RU" sz="5375" b="1" dirty="0">
                <a:solidFill>
                  <a:schemeClr val="bg1"/>
                </a:solidFill>
                <a:latin typeface="Futura Now Headline" panose="020B0506030501020303" pitchFamily="34" charset="0"/>
                <a:cs typeface="ALS Sector Regular" pitchFamily="2" charset="0"/>
              </a:rPr>
              <a:t>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9CD04A-6425-5416-F435-65DF8BF424D6}"/>
              </a:ext>
            </a:extLst>
          </p:cNvPr>
          <p:cNvSpPr/>
          <p:nvPr/>
        </p:nvSpPr>
        <p:spPr>
          <a:xfrm>
            <a:off x="733266" y="6187751"/>
            <a:ext cx="1902530" cy="402516"/>
          </a:xfrm>
          <a:prstGeom prst="rect">
            <a:avLst/>
          </a:prstGeom>
          <a:solidFill>
            <a:srgbClr val="4B2DA7"/>
          </a:solidFill>
        </p:spPr>
        <p:txBody>
          <a:bodyPr wrap="square">
            <a:spAutoFit/>
          </a:bodyPr>
          <a:lstStyle/>
          <a:p>
            <a:pPr algn="ctr">
              <a:buClr>
                <a:srgbClr val="176DEA"/>
              </a:buClr>
            </a:pPr>
            <a:r>
              <a:rPr lang="ru-RU" sz="1991" dirty="0">
                <a:solidFill>
                  <a:schemeClr val="bg1"/>
                </a:solidFill>
                <a:latin typeface="Futura Now Headline" panose="020B0506030501020303" pitchFamily="34" charset="0"/>
                <a:cs typeface="ALS Sector Regular" pitchFamily="2" charset="0"/>
              </a:rPr>
              <a:t>2 декабря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D91A62-F18A-7591-D710-030869ECD527}"/>
              </a:ext>
            </a:extLst>
          </p:cNvPr>
          <p:cNvSpPr/>
          <p:nvPr/>
        </p:nvSpPr>
        <p:spPr>
          <a:xfrm>
            <a:off x="606859" y="6078126"/>
            <a:ext cx="2155343" cy="61939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2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9C6805-864F-DAF3-3525-759F0E1D691C}"/>
              </a:ext>
            </a:extLst>
          </p:cNvPr>
          <p:cNvSpPr/>
          <p:nvPr/>
        </p:nvSpPr>
        <p:spPr>
          <a:xfrm>
            <a:off x="3015015" y="6187751"/>
            <a:ext cx="2646145" cy="402516"/>
          </a:xfrm>
          <a:prstGeom prst="rect">
            <a:avLst/>
          </a:prstGeom>
          <a:solidFill>
            <a:srgbClr val="4B2DA7"/>
          </a:solidFill>
        </p:spPr>
        <p:txBody>
          <a:bodyPr wrap="square">
            <a:spAutoFit/>
          </a:bodyPr>
          <a:lstStyle/>
          <a:p>
            <a:pPr algn="ctr">
              <a:buClr>
                <a:srgbClr val="176DEA"/>
              </a:buClr>
            </a:pPr>
            <a:r>
              <a:rPr lang="ru-RU" sz="1991" dirty="0">
                <a:solidFill>
                  <a:schemeClr val="bg1"/>
                </a:solidFill>
                <a:latin typeface="Futura Now Headline" panose="020B0506030501020303" pitchFamily="34" charset="0"/>
                <a:cs typeface="ALS Sector Regular" pitchFamily="2" charset="0"/>
              </a:rPr>
              <a:t>г. Великий Новгород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B697CB4-4DEB-CB8A-ECE3-C4A12075F3B0}"/>
              </a:ext>
            </a:extLst>
          </p:cNvPr>
          <p:cNvSpPr/>
          <p:nvPr/>
        </p:nvSpPr>
        <p:spPr>
          <a:xfrm>
            <a:off x="2888608" y="6078126"/>
            <a:ext cx="2878492" cy="61939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2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28E6DD-E46C-4F75-C5DC-5B6E88EC8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58" y="937823"/>
            <a:ext cx="985211" cy="3887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E264A5-27CC-49B9-A4FF-6767975F81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27" y="884292"/>
            <a:ext cx="1244948" cy="4802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58037E-2989-37DC-845D-D2C3CB457A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239" y="884292"/>
            <a:ext cx="586322" cy="4802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B99EC6-4D4B-63DE-D34A-B779335FF5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4638">
            <a:off x="7886799" y="2540950"/>
            <a:ext cx="1996726" cy="19967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330BE0-C6FC-249B-EA3D-421989823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12842">
            <a:off x="7052856" y="5530872"/>
            <a:ext cx="760478" cy="76047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E1C0596-D530-9DD8-BF51-403C3D20D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61668">
            <a:off x="10448032" y="5345874"/>
            <a:ext cx="796727" cy="79672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2695E4A-1354-7C00-5020-E3A167F239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60" y="845313"/>
            <a:ext cx="1555397" cy="59813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D9020BC-90EE-560E-A655-B53DAE5BED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056" y="891018"/>
            <a:ext cx="1416080" cy="4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3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6000CC8-7E1A-C87D-EFC0-5612141A2B15}"/>
              </a:ext>
            </a:extLst>
          </p:cNvPr>
          <p:cNvSpPr/>
          <p:nvPr/>
        </p:nvSpPr>
        <p:spPr>
          <a:xfrm>
            <a:off x="0" y="491071"/>
            <a:ext cx="7516906" cy="1594534"/>
          </a:xfrm>
          <a:prstGeom prst="rect">
            <a:avLst/>
          </a:prstGeom>
          <a:solidFill>
            <a:srgbClr val="4B2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4039C1"/>
              </a:solidFill>
            </a:endParaRPr>
          </a:p>
        </p:txBody>
      </p:sp>
      <p:sp>
        <p:nvSpPr>
          <p:cNvPr id="6" name="Google Shape;69;p3">
            <a:extLst>
              <a:ext uri="{FF2B5EF4-FFF2-40B4-BE49-F238E27FC236}">
                <a16:creationId xmlns:a16="http://schemas.microsoft.com/office/drawing/2014/main" id="{357C859F-2587-697D-DF5A-2CFA241460A5}"/>
              </a:ext>
            </a:extLst>
          </p:cNvPr>
          <p:cNvSpPr txBox="1"/>
          <p:nvPr/>
        </p:nvSpPr>
        <p:spPr>
          <a:xfrm>
            <a:off x="573721" y="973123"/>
            <a:ext cx="6570717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360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СОДЕРЖАНИЕ ПРЕЗЕНТАЦИИ</a:t>
            </a:r>
            <a:endParaRPr lang="ru-RU" sz="5400" spc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69;p3">
            <a:extLst>
              <a:ext uri="{FF2B5EF4-FFF2-40B4-BE49-F238E27FC236}">
                <a16:creationId xmlns:a16="http://schemas.microsoft.com/office/drawing/2014/main" id="{6958CFDB-B9CD-6551-2811-8D53B299745A}"/>
              </a:ext>
            </a:extLst>
          </p:cNvPr>
          <p:cNvSpPr txBox="1"/>
          <p:nvPr/>
        </p:nvSpPr>
        <p:spPr>
          <a:xfrm>
            <a:off x="592639" y="4652365"/>
            <a:ext cx="3356908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Целевая аудитория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Описание потребителя вашего продукта. </a:t>
            </a:r>
          </a:p>
          <a:p>
            <a:r>
              <a:rPr lang="ru-RU" sz="14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всех - </a:t>
            </a:r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неправильно.</a:t>
            </a:r>
          </a:p>
        </p:txBody>
      </p:sp>
      <p:sp>
        <p:nvSpPr>
          <p:cNvPr id="11" name="Google Shape;69;p3">
            <a:extLst>
              <a:ext uri="{FF2B5EF4-FFF2-40B4-BE49-F238E27FC236}">
                <a16:creationId xmlns:a16="http://schemas.microsoft.com/office/drawing/2014/main" id="{678D1D3C-04FB-B9F5-5B39-AC39F85EBEBE}"/>
              </a:ext>
            </a:extLst>
          </p:cNvPr>
          <p:cNvSpPr txBox="1"/>
          <p:nvPr/>
        </p:nvSpPr>
        <p:spPr>
          <a:xfrm>
            <a:off x="617863" y="3153916"/>
            <a:ext cx="4077127" cy="134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Проблема, </a:t>
            </a:r>
            <a:r>
              <a:rPr lang="ru-RU" sz="14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которую решает проект</a:t>
            </a:r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Описание плохой ситуации, тенденции, потерь, убытков 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т.п. Убедительно. </a:t>
            </a:r>
            <a:r>
              <a:rPr lang="ru-RU" sz="14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Отсутствие чего-то это не всегда проблема.</a:t>
            </a:r>
          </a:p>
        </p:txBody>
      </p:sp>
      <p:sp>
        <p:nvSpPr>
          <p:cNvPr id="12" name="Google Shape;69;p3">
            <a:extLst>
              <a:ext uri="{FF2B5EF4-FFF2-40B4-BE49-F238E27FC236}">
                <a16:creationId xmlns:a16="http://schemas.microsoft.com/office/drawing/2014/main" id="{ABE4F087-9A55-9BB5-95A8-D7E7C012A6B4}"/>
              </a:ext>
            </a:extLst>
          </p:cNvPr>
          <p:cNvSpPr txBox="1"/>
          <p:nvPr/>
        </p:nvSpPr>
        <p:spPr>
          <a:xfrm>
            <a:off x="592639" y="5687868"/>
            <a:ext cx="4172156" cy="109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Актуальность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Обоснование важности проблемы на основании статистических данных, законодательства, </a:t>
            </a:r>
            <a:r>
              <a:rPr lang="ru-RU" sz="14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доказательства необходимости решения проблемы</a:t>
            </a:r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Google Shape;69;p3">
            <a:extLst>
              <a:ext uri="{FF2B5EF4-FFF2-40B4-BE49-F238E27FC236}">
                <a16:creationId xmlns:a16="http://schemas.microsoft.com/office/drawing/2014/main" id="{C857B4E2-3539-0068-C81E-4318A148A25B}"/>
              </a:ext>
            </a:extLst>
          </p:cNvPr>
          <p:cNvSpPr txBox="1"/>
          <p:nvPr/>
        </p:nvSpPr>
        <p:spPr>
          <a:xfrm>
            <a:off x="617864" y="2228102"/>
            <a:ext cx="3484082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Команда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Фотографии членов команды, ФИО, 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город, флаги стран</a:t>
            </a:r>
          </a:p>
        </p:txBody>
      </p:sp>
      <p:sp>
        <p:nvSpPr>
          <p:cNvPr id="14" name="Google Shape;69;p3">
            <a:extLst>
              <a:ext uri="{FF2B5EF4-FFF2-40B4-BE49-F238E27FC236}">
                <a16:creationId xmlns:a16="http://schemas.microsoft.com/office/drawing/2014/main" id="{BD2D6F64-44CC-C69B-6655-BAC29CB41608}"/>
              </a:ext>
            </a:extLst>
          </p:cNvPr>
          <p:cNvSpPr txBox="1"/>
          <p:nvPr/>
        </p:nvSpPr>
        <p:spPr>
          <a:xfrm>
            <a:off x="4910773" y="2251594"/>
            <a:ext cx="323391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учили. По </a:t>
            </a:r>
            <a:r>
              <a:rPr lang="en-US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SMART. </a:t>
            </a:r>
            <a:endParaRPr lang="ru-RU" sz="140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Максимально конкретно.</a:t>
            </a:r>
          </a:p>
        </p:txBody>
      </p:sp>
      <p:sp>
        <p:nvSpPr>
          <p:cNvPr id="17" name="Google Shape;69;p3">
            <a:extLst>
              <a:ext uri="{FF2B5EF4-FFF2-40B4-BE49-F238E27FC236}">
                <a16:creationId xmlns:a16="http://schemas.microsoft.com/office/drawing/2014/main" id="{59A29204-515E-3DEC-26D9-7C06521E78C7}"/>
              </a:ext>
            </a:extLst>
          </p:cNvPr>
          <p:cNvSpPr txBox="1"/>
          <p:nvPr/>
        </p:nvSpPr>
        <p:spPr>
          <a:xfrm>
            <a:off x="4910773" y="4398082"/>
            <a:ext cx="323391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Решение, продукт</a:t>
            </a:r>
          </a:p>
          <a:p>
            <a:r>
              <a:rPr lang="ru-RU" sz="1400" b="1" spc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НОВИЗНА!!! 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Принцип работы, структура, схема</a:t>
            </a:r>
          </a:p>
        </p:txBody>
      </p:sp>
      <p:sp>
        <p:nvSpPr>
          <p:cNvPr id="18" name="Google Shape;69;p3">
            <a:extLst>
              <a:ext uri="{FF2B5EF4-FFF2-40B4-BE49-F238E27FC236}">
                <a16:creationId xmlns:a16="http://schemas.microsoft.com/office/drawing/2014/main" id="{AEAB0EC1-11C0-EEFC-EA91-7F2E8DBC8BFE}"/>
              </a:ext>
            </a:extLst>
          </p:cNvPr>
          <p:cNvSpPr txBox="1"/>
          <p:nvPr/>
        </p:nvSpPr>
        <p:spPr>
          <a:xfrm>
            <a:off x="4910773" y="3330954"/>
            <a:ext cx="4077128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Анализ аналогов и конкурентов</a:t>
            </a:r>
          </a:p>
          <a:p>
            <a:r>
              <a:rPr lang="ru-RU" sz="1400" kern="0" spc="0" dirty="0">
                <a:solidFill>
                  <a:srgbClr val="4B2DA7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lang="en-US" sz="1400" kern="0" spc="0" dirty="0" err="1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езультаты</a:t>
            </a:r>
            <a:r>
              <a:rPr lang="en-US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kern="0" spc="0" dirty="0" err="1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сравнительного</a:t>
            </a:r>
            <a:r>
              <a:rPr lang="en-US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анализа с </a:t>
            </a:r>
            <a:r>
              <a:rPr lang="en-US" sz="1400" kern="0" spc="0" dirty="0" err="1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описанием</a:t>
            </a:r>
            <a:r>
              <a:rPr lang="en-US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kern="0" spc="0" dirty="0" err="1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конкурентных</a:t>
            </a:r>
            <a:r>
              <a:rPr lang="en-US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kern="0" spc="0" dirty="0" err="1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преимуществ</a:t>
            </a:r>
            <a:r>
              <a:rPr lang="en-US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вашего продукта</a:t>
            </a:r>
            <a:endParaRPr lang="ru-RU" sz="1100" kern="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69;p3">
            <a:extLst>
              <a:ext uri="{FF2B5EF4-FFF2-40B4-BE49-F238E27FC236}">
                <a16:creationId xmlns:a16="http://schemas.microsoft.com/office/drawing/2014/main" id="{1A181751-CD6A-B777-77DB-3F79D6096DBC}"/>
              </a:ext>
            </a:extLst>
          </p:cNvPr>
          <p:cNvSpPr txBox="1"/>
          <p:nvPr/>
        </p:nvSpPr>
        <p:spPr>
          <a:xfrm>
            <a:off x="4910773" y="5496308"/>
            <a:ext cx="3233914" cy="109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Результат работы</a:t>
            </a:r>
          </a:p>
          <a:p>
            <a:r>
              <a:rPr lang="ru-RU" sz="1400" b="1" spc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НОВИЗНА!!! 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Технические характеристики, прототип, 3</a:t>
            </a:r>
            <a:r>
              <a:rPr lang="en-US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модель, видео, фото</a:t>
            </a:r>
          </a:p>
        </p:txBody>
      </p:sp>
      <p:sp>
        <p:nvSpPr>
          <p:cNvPr id="20" name="Google Shape;69;p3">
            <a:extLst>
              <a:ext uri="{FF2B5EF4-FFF2-40B4-BE49-F238E27FC236}">
                <a16:creationId xmlns:a16="http://schemas.microsoft.com/office/drawing/2014/main" id="{C311887A-3042-0681-1A6D-3A940372C967}"/>
              </a:ext>
            </a:extLst>
          </p:cNvPr>
          <p:cNvSpPr txBox="1"/>
          <p:nvPr/>
        </p:nvSpPr>
        <p:spPr>
          <a:xfrm>
            <a:off x="9438128" y="5516538"/>
            <a:ext cx="4870343" cy="109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Последний слайд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Спасибо за внимание или пожелание или благодарности </a:t>
            </a:r>
            <a:endParaRPr lang="en-US" sz="140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или позитивная мысль или  групповое фото команды </a:t>
            </a:r>
            <a:endParaRPr lang="en-US" sz="140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процессе работы над проектом или в процессе радости</a:t>
            </a:r>
          </a:p>
        </p:txBody>
      </p:sp>
      <p:sp>
        <p:nvSpPr>
          <p:cNvPr id="21" name="Google Shape;69;p3">
            <a:extLst>
              <a:ext uri="{FF2B5EF4-FFF2-40B4-BE49-F238E27FC236}">
                <a16:creationId xmlns:a16="http://schemas.microsoft.com/office/drawing/2014/main" id="{B672C58D-4797-06CD-1B8B-0C350F56D7FD}"/>
              </a:ext>
            </a:extLst>
          </p:cNvPr>
          <p:cNvSpPr txBox="1"/>
          <p:nvPr/>
        </p:nvSpPr>
        <p:spPr>
          <a:xfrm>
            <a:off x="592639" y="6992258"/>
            <a:ext cx="13907951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18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Важно, чтобы в презентации была логика , убедительность и понятность. Больше иллюстраций (по делу), инфографики, конкретики. </a:t>
            </a:r>
          </a:p>
          <a:p>
            <a:r>
              <a:rPr lang="ru-RU" sz="1800" b="1" spc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</a:t>
            </a:r>
            <a:r>
              <a:rPr lang="en-US" sz="1800" b="1" spc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</a:t>
            </a:r>
            <a:r>
              <a:rPr lang="ru-RU" sz="1800" b="1" spc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выступления про результат и описание продукта!!! </a:t>
            </a:r>
            <a:r>
              <a:rPr lang="ru-RU" sz="18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Читать слайды не нужно </a:t>
            </a:r>
            <a:r>
              <a:rPr lang="en-US" sz="1800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ru-RU" sz="120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69;p3">
            <a:extLst>
              <a:ext uri="{FF2B5EF4-FFF2-40B4-BE49-F238E27FC236}">
                <a16:creationId xmlns:a16="http://schemas.microsoft.com/office/drawing/2014/main" id="{A8D701C8-0241-907A-7FA0-49D9FF336B98}"/>
              </a:ext>
            </a:extLst>
          </p:cNvPr>
          <p:cNvSpPr txBox="1"/>
          <p:nvPr/>
        </p:nvSpPr>
        <p:spPr>
          <a:xfrm>
            <a:off x="9438128" y="3158937"/>
            <a:ext cx="3704872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Маркетинг</a:t>
            </a:r>
          </a:p>
          <a:p>
            <a:r>
              <a:rPr lang="ru-RU" sz="1400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Уникальное торговое предложение и каналы продвижения для вашего продукта</a:t>
            </a:r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8D44BC9C-5587-54B3-C72B-CB3E35CB67B3}"/>
              </a:ext>
            </a:extLst>
          </p:cNvPr>
          <p:cNvSpPr txBox="1"/>
          <p:nvPr/>
        </p:nvSpPr>
        <p:spPr>
          <a:xfrm>
            <a:off x="9438128" y="4316304"/>
            <a:ext cx="435255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b="1" spc="0" dirty="0">
                <a:solidFill>
                  <a:srgbClr val="4B2D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Социальный эффект</a:t>
            </a:r>
          </a:p>
          <a:p>
            <a:r>
              <a:rPr lang="ru-RU" sz="1400" kern="0" spc="0" dirty="0">
                <a:solidFill>
                  <a:srgbClr val="4B2DA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Направления, показатели оценки социального эффекта от реализации вашего проекта.  </a:t>
            </a:r>
            <a:endParaRPr lang="ru-RU" sz="1100" kern="0" spc="0" dirty="0">
              <a:solidFill>
                <a:srgbClr val="4B2D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59533F-E6C3-F0C3-047D-F0EAF36E0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02857">
            <a:off x="12082578" y="700350"/>
            <a:ext cx="1404144" cy="14041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828289-F31B-4689-6DC3-1786F043E5FA}"/>
              </a:ext>
            </a:extLst>
          </p:cNvPr>
          <p:cNvSpPr txBox="1"/>
          <p:nvPr/>
        </p:nvSpPr>
        <p:spPr>
          <a:xfrm>
            <a:off x="8263365" y="1236111"/>
            <a:ext cx="3145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Первый слайд можно свой, но с верхними логотипами</a:t>
            </a:r>
          </a:p>
          <a:p>
            <a:r>
              <a:rPr lang="ru-RU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(и желательно снежинки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)</a:t>
            </a:r>
            <a:endParaRPr lang="ru-RU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6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C200E3-1B5A-CFCE-23A4-F2B4A1FB1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13" y="4450655"/>
            <a:ext cx="408433" cy="4084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763715-6191-0EE1-95BF-015E1256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52" y="4476032"/>
            <a:ext cx="408433" cy="40843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72DE90-8522-C4AE-8F5E-238B5CD0C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389" y="4476033"/>
            <a:ext cx="408433" cy="4084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EF0060-CB24-5F43-104F-842A1592A6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13" y="3825243"/>
            <a:ext cx="408433" cy="4084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4EECAA-52F3-8F3C-00C4-623BFA61C8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390" y="3825244"/>
            <a:ext cx="408433" cy="4084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ED8199E-515C-55A1-E509-5AED9EF5F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52" y="3825244"/>
            <a:ext cx="408433" cy="4084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25269D-F15D-024C-2129-CD8D8363A2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14" y="3170666"/>
            <a:ext cx="408433" cy="40843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E39A814-412F-6665-FCEB-6C72F36124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52" y="3170666"/>
            <a:ext cx="408433" cy="40843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6C1E323-9449-FD66-A8BE-90815543FE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390" y="3170667"/>
            <a:ext cx="408433" cy="408433"/>
          </a:xfrm>
          <a:prstGeom prst="rect">
            <a:avLst/>
          </a:prstGeom>
        </p:spPr>
      </p:pic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E4CBA0A6-B0B0-78EE-A8C9-42A61557E442}"/>
              </a:ext>
            </a:extLst>
          </p:cNvPr>
          <p:cNvSpPr txBox="1">
            <a:spLocks/>
          </p:cNvSpPr>
          <p:nvPr/>
        </p:nvSpPr>
        <p:spPr>
          <a:xfrm>
            <a:off x="899022" y="990548"/>
            <a:ext cx="12552573" cy="695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4B2DA7"/>
                </a:solidFill>
                <a:latin typeface="Futura Now Headline" panose="020B0506030501020303" pitchFamily="34" charset="0"/>
                <a:cs typeface="ALS Sector Regular" pitchFamily="2" charset="0"/>
              </a:rPr>
              <a:t>Иконки Зимнего университета, которые можно использовать в презентации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3E3CD9-B890-D1D3-70C1-6D03256BCA2C}"/>
              </a:ext>
            </a:extLst>
          </p:cNvPr>
          <p:cNvSpPr txBox="1"/>
          <p:nvPr/>
        </p:nvSpPr>
        <p:spPr>
          <a:xfrm>
            <a:off x="1236900" y="2605245"/>
            <a:ext cx="2692352" cy="233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B2DA7"/>
                </a:solidFill>
                <a:latin typeface="Futura Now Headline" panose="020B0506030501020303" pitchFamily="34" charset="0"/>
                <a:ea typeface="Roboto Medium"/>
                <a:cs typeface="ALS Sector Regular" pitchFamily="2" charset="0"/>
                <a:sym typeface="Roboto Medium"/>
              </a:rPr>
              <a:t>Темные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DDEB4CB-9A19-F4BF-F6F7-75F6B14E2DF1}"/>
              </a:ext>
            </a:extLst>
          </p:cNvPr>
          <p:cNvSpPr/>
          <p:nvPr/>
        </p:nvSpPr>
        <p:spPr>
          <a:xfrm>
            <a:off x="4043290" y="2394580"/>
            <a:ext cx="2471351" cy="2942369"/>
          </a:xfrm>
          <a:prstGeom prst="rect">
            <a:avLst/>
          </a:prstGeom>
          <a:solidFill>
            <a:srgbClr val="4B2D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4872D9-D14A-5F79-756A-ADC80CDAEBBF}"/>
              </a:ext>
            </a:extLst>
          </p:cNvPr>
          <p:cNvSpPr txBox="1"/>
          <p:nvPr/>
        </p:nvSpPr>
        <p:spPr>
          <a:xfrm>
            <a:off x="4286581" y="2605245"/>
            <a:ext cx="2692352" cy="233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bg1"/>
                </a:solidFill>
                <a:latin typeface="Futura Now Headline" panose="020B0506030501020303" pitchFamily="34" charset="0"/>
                <a:ea typeface="Roboto Medium"/>
                <a:cs typeface="ALS Sector Regular" pitchFamily="2" charset="0"/>
                <a:sym typeface="Roboto Medium"/>
              </a:rPr>
              <a:t>Светлые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18937DA-85AC-335B-4DA3-C53CC42EEF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774" y="4379381"/>
            <a:ext cx="408433" cy="4084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044F241-94E7-4CCE-DFFB-187CEDE31B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641" y="4381956"/>
            <a:ext cx="408433" cy="40843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3A32C5-02D2-435B-587F-5FA8A67961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819" y="4381957"/>
            <a:ext cx="408433" cy="40843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ADE7769-D550-FD13-A25E-25792F4330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775" y="3764358"/>
            <a:ext cx="408433" cy="40843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76AFFAB-31B1-263F-CF4A-4A1216B0D8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581" y="3764359"/>
            <a:ext cx="408433" cy="408433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2E02DF3-CC0C-7D48-D874-1118FC116C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641" y="3769308"/>
            <a:ext cx="408433" cy="40843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8A275A1-4314-6963-618F-C780D25698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43" y="3170664"/>
            <a:ext cx="408433" cy="40843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48E66E9-170A-9EBE-410D-E154400CB1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781" y="3178902"/>
            <a:ext cx="408433" cy="40843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E21EB92-1DDD-15D6-827B-88B4F0CB4CF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819" y="3170665"/>
            <a:ext cx="408433" cy="408433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D6CF708B-57A5-71A9-7486-FD43B02E52F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341" y="2444573"/>
            <a:ext cx="5053122" cy="284238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7B01E96-6295-BB31-5050-71A7CACE59C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02857">
            <a:off x="12697109" y="3155467"/>
            <a:ext cx="1404144" cy="140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467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241</Words>
  <Application>Microsoft Office PowerPoint</Application>
  <PresentationFormat>Произвольный</PresentationFormat>
  <Paragraphs>42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Futura Now Headline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Черепица</dc:creator>
  <cp:lastModifiedBy>Александр Черепица</cp:lastModifiedBy>
  <cp:revision>36</cp:revision>
  <dcterms:created xsi:type="dcterms:W3CDTF">2025-11-24T15:08:03Z</dcterms:created>
  <dcterms:modified xsi:type="dcterms:W3CDTF">2025-11-28T14:43:14Z</dcterms:modified>
</cp:coreProperties>
</file>